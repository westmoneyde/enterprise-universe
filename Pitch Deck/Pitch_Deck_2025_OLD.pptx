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1246" y="1295400"/>
            <a:ext cx="50813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35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UNIVERSE GMBH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303282" y="1714500"/>
            <a:ext cx="453713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1800"/>
              </a:spcAft>
              <a:buNone/>
            </a:pPr>
            <a:r>
              <a:rPr lang="en-US" sz="4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Pitch Deck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031246" y="2514600"/>
            <a:ext cx="50813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18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Zukunft der intelligenten Gebäudeautomation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99005" y="3238500"/>
            <a:ext cx="9721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7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799005" y="3657600"/>
            <a:ext cx="9721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56514" y="3238500"/>
            <a:ext cx="1011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7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€847K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056514" y="3657600"/>
            <a:ext cx="1011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Revenue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53150" y="3238500"/>
            <a:ext cx="9917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7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23.5%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353150" y="3657600"/>
            <a:ext cx="9917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Growth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31150" y="4762500"/>
            <a:ext cx="24815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2025 | info@enterprise-universe.com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Problem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133475"/>
            <a:ext cx="5410200" cy="1181100"/>
          </a:xfrm>
          <a:prstGeom prst="roundRect">
            <a:avLst>
              <a:gd name="adj" fmla="val 9677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133475"/>
            <a:ext cx="0" cy="118110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1362075"/>
            <a:ext cx="50909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Fragmentierter Markt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1704975"/>
            <a:ext cx="509092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KMUs kämpfen mit 15+ verschiedenen Tools für Projektmanagement, CRM, Kommunikation und Abrechnung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466975"/>
            <a:ext cx="5410200" cy="1181100"/>
          </a:xfrm>
          <a:prstGeom prst="roundRect">
            <a:avLst>
              <a:gd name="adj" fmla="val 9677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2466975"/>
            <a:ext cx="0" cy="11811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2695575"/>
            <a:ext cx="50909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Ineffiziente Prozesse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600" y="3038475"/>
            <a:ext cx="509092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Manuelle Dateneingabe, fehlende Automatisierung, Kommunikationslücken zwischen Teams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3800475"/>
            <a:ext cx="5410200" cy="990600"/>
          </a:xfrm>
          <a:prstGeom prst="roundRect">
            <a:avLst>
              <a:gd name="adj" fmla="val 1153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3800475"/>
            <a:ext cx="0" cy="99060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600" y="4029075"/>
            <a:ext cx="50909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DSGVO Compliance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600" y="4371975"/>
            <a:ext cx="50909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der deutschen KMUs sind unsicher über DSGVO-konforme Datenverarbeitung</a:t>
            </a:r>
            <a:endParaRPr lang="en-US" sz="1050" dirty="0"/>
          </a:p>
        </p:txBody>
      </p:sp>
      <p:pic>
        <p:nvPicPr>
          <p:cNvPr id="15" name="Image 0" descr="/tmp/rasterized-gradient-71757d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1471613"/>
            <a:ext cx="2667000" cy="298132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302502" y="1738313"/>
            <a:ext cx="225399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€4.2B</a:t>
            </a:r>
            <a:endParaRPr lang="en-US" sz="4500" dirty="0"/>
          </a:p>
        </p:txBody>
      </p:sp>
      <p:sp>
        <p:nvSpPr>
          <p:cNvPr id="17" name="Text 14"/>
          <p:cNvSpPr/>
          <p:nvPr/>
        </p:nvSpPr>
        <p:spPr>
          <a:xfrm>
            <a:off x="6302502" y="2386013"/>
            <a:ext cx="225399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Jährlicher Produktivitätsverlust deutscher KMUs durch ineffiziente Tools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324600" y="3190875"/>
            <a:ext cx="2209800" cy="0"/>
          </a:xfrm>
          <a:prstGeom prst="line">
            <a:avLst/>
          </a:prstGeom>
          <a:noFill/>
          <a:ln w="9525">
            <a:solidFill>
              <a:srgbClr val="3A3A4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2502" y="3462338"/>
            <a:ext cx="22539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7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6302502" y="3881438"/>
            <a:ext cx="22539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Handwerksbetriebe nutzen noch Excel &amp; E-Mail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4982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Lösung: West Money OS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461195"/>
            <a:ext cx="57127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1800"/>
              </a:spcAft>
              <a:buNone/>
            </a:pPr>
            <a:r>
              <a:rPr lang="en-US" sz="13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All-in-One Plattform für Smart Home Unternehmen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81000" y="1956495"/>
            <a:ext cx="2724150" cy="1196280"/>
          </a:xfrm>
          <a:prstGeom prst="roundRect">
            <a:avLst>
              <a:gd name="adj" fmla="val 9555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146995"/>
            <a:ext cx="246773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2543175"/>
            <a:ext cx="24677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&amp; Pipeline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400" y="2809875"/>
            <a:ext cx="24677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HubSpot-Integration, 3,170 Kontakte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57550" y="1956495"/>
            <a:ext cx="2724150" cy="1196280"/>
          </a:xfrm>
          <a:prstGeom prst="roundRect">
            <a:avLst>
              <a:gd name="adj" fmla="val 9555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09950" y="2146995"/>
            <a:ext cx="246773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09950" y="2543175"/>
            <a:ext cx="24677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Business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9950" y="2809875"/>
            <a:ext cx="24677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450+ Nachrichten/Tag automatisiert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3305175"/>
            <a:ext cx="2724150" cy="1196280"/>
          </a:xfrm>
          <a:prstGeom prst="roundRect">
            <a:avLst>
              <a:gd name="adj" fmla="val 9555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3400" y="3495675"/>
            <a:ext cx="246773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3400" y="3891855"/>
            <a:ext cx="24677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AI Agents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3400" y="4158555"/>
            <a:ext cx="24677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Claude-powered Automation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57550" y="3305175"/>
            <a:ext cx="2724150" cy="1196280"/>
          </a:xfrm>
          <a:prstGeom prst="roundRect">
            <a:avLst>
              <a:gd name="adj" fmla="val 9555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09950" y="3495675"/>
            <a:ext cx="246773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09950" y="3891855"/>
            <a:ext cx="24677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LOXONE Integration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09950" y="4158555"/>
            <a:ext cx="24677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Partner, 12 aktive Projekte</a:t>
            </a:r>
            <a:endParaRPr lang="en-US" sz="900" dirty="0"/>
          </a:p>
        </p:txBody>
      </p:sp>
      <p:pic>
        <p:nvPicPr>
          <p:cNvPr id="20" name="Image 0" descr="/tmp/rasterized-gradient-210226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0" y="1152525"/>
            <a:ext cx="2476500" cy="36195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515100" y="1419225"/>
            <a:ext cx="20596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Launch: 01.01.2026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515100" y="1838325"/>
            <a:ext cx="2019300" cy="838200"/>
          </a:xfrm>
          <a:prstGeom prst="roundRect">
            <a:avLst>
              <a:gd name="adj" fmla="val 9091"/>
            </a:avLst>
          </a:prstGeom>
          <a:solidFill>
            <a:srgbClr val="00000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629400" y="1990725"/>
            <a:ext cx="18265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629400" y="2219325"/>
            <a:ext cx="182651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€49/mo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515100" y="2790825"/>
            <a:ext cx="2019300" cy="838200"/>
          </a:xfrm>
          <a:prstGeom prst="roundRect">
            <a:avLst>
              <a:gd name="adj" fmla="val 9091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629400" y="2943225"/>
            <a:ext cx="18265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629400" y="3171825"/>
            <a:ext cx="182651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€199/mo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515100" y="3743325"/>
            <a:ext cx="2019300" cy="800100"/>
          </a:xfrm>
          <a:prstGeom prst="roundRect">
            <a:avLst>
              <a:gd name="adj" fmla="val 9524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629400" y="3895725"/>
            <a:ext cx="18265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629400" y="4124325"/>
            <a:ext cx="18265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Marktchance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533525"/>
            <a:ext cx="1834753" cy="1409700"/>
          </a:xfrm>
          <a:prstGeom prst="roundRect">
            <a:avLst>
              <a:gd name="adj" fmla="val 810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5824" y="1800225"/>
            <a:ext cx="140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36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€47B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5824" y="2295525"/>
            <a:ext cx="14051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- European Smart Home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44353" y="1533525"/>
            <a:ext cx="1834753" cy="1409700"/>
          </a:xfrm>
          <a:prstGeom prst="roundRect">
            <a:avLst>
              <a:gd name="adj" fmla="val 810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659178" y="1800225"/>
            <a:ext cx="140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36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€8.5B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659178" y="2295525"/>
            <a:ext cx="14051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- DACH Region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07706" y="1533525"/>
            <a:ext cx="1855143" cy="1409700"/>
          </a:xfrm>
          <a:prstGeom prst="roundRect">
            <a:avLst>
              <a:gd name="adj" fmla="val 810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22327" y="1800225"/>
            <a:ext cx="14259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36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€850M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22327" y="2295525"/>
            <a:ext cx="14259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- Erreichbar in 5J</a:t>
            </a:r>
            <a:endParaRPr lang="en-US" sz="1050" dirty="0"/>
          </a:p>
        </p:txBody>
      </p:sp>
      <p:pic>
        <p:nvPicPr>
          <p:cNvPr id="12" name="Image 0" descr="/tmp/rasterized-gradient-445c80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133725"/>
            <a:ext cx="5981700" cy="12573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71500" y="3362325"/>
            <a:ext cx="57127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Markttreiber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71500" y="3781425"/>
            <a:ext cx="193824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EU Green Deal &amp; Gebäuderichtlinie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624138" y="3781425"/>
            <a:ext cx="19652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12% CAGR Smart Home Wachstum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703266" y="3781425"/>
            <a:ext cx="14983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KI-Adoption in KMUs steigt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667500" y="1438275"/>
            <a:ext cx="2095500" cy="304800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858000" y="1666875"/>
            <a:ext cx="17487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CUSTOMERS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858000" y="2009775"/>
            <a:ext cx="17487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Elektro-Installateure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858000" y="2276475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 in DACH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858000" y="2543175"/>
            <a:ext cx="17487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Integratoren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858000" y="3038475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8,500 in DACH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858000" y="3305175"/>
            <a:ext cx="17487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Bauträger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858000" y="3571875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12,000 in DACH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3838575"/>
            <a:ext cx="17487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Manager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858000" y="4105275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25,000+ in DACH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Kennzahlen</a:t>
            </a:r>
            <a:endParaRPr lang="en-US" sz="2250" dirty="0"/>
          </a:p>
        </p:txBody>
      </p:sp>
      <p:pic>
        <p:nvPicPr>
          <p:cNvPr id="3" name="Image 0" descr="/tmp/rasterized-gradient-7678f4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857375"/>
            <a:ext cx="1828800" cy="1085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1025" y="2095500"/>
            <a:ext cx="1457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€847K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81025" y="251460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2024</a:t>
            </a:r>
            <a:endParaRPr lang="en-US" sz="1050" dirty="0"/>
          </a:p>
        </p:txBody>
      </p:sp>
      <p:pic>
        <p:nvPicPr>
          <p:cNvPr id="6" name="Image 1" descr="/tmp/rasterized-gradient-dcb373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857375"/>
            <a:ext cx="1828800" cy="10858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2225" y="2095500"/>
            <a:ext cx="1457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23.5%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2562225" y="251460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Wachstum</a:t>
            </a:r>
            <a:endParaRPr lang="en-US" sz="1050" dirty="0"/>
          </a:p>
        </p:txBody>
      </p:sp>
      <p:pic>
        <p:nvPicPr>
          <p:cNvPr id="9" name="Image 2" descr="/tmp/rasterized-gradient-a4e2cd8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857375"/>
            <a:ext cx="1828800" cy="10858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43425" y="2095500"/>
            <a:ext cx="1457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</a:t>
            </a:r>
            <a:endParaRPr lang="en-US" sz="2700" dirty="0"/>
          </a:p>
        </p:txBody>
      </p:sp>
      <p:sp>
        <p:nvSpPr>
          <p:cNvPr id="11" name="Text 6"/>
          <p:cNvSpPr/>
          <p:nvPr/>
        </p:nvSpPr>
        <p:spPr>
          <a:xfrm>
            <a:off x="4543425" y="251460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Aktive Kunden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381000" y="3133725"/>
            <a:ext cx="1362075" cy="876300"/>
          </a:xfrm>
          <a:prstGeom prst="roundRect">
            <a:avLst>
              <a:gd name="adj" fmla="val 8696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522827" y="3324225"/>
            <a:ext cx="10784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€1.25M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522827" y="3667125"/>
            <a:ext cx="10784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2025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857375" y="3133725"/>
            <a:ext cx="1362075" cy="876300"/>
          </a:xfrm>
          <a:prstGeom prst="roundRect">
            <a:avLst>
              <a:gd name="adj" fmla="val 8696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1999202" y="3324225"/>
            <a:ext cx="10784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3,170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999202" y="3667125"/>
            <a:ext cx="10784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Kontakte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333750" y="3133725"/>
            <a:ext cx="1362075" cy="876300"/>
          </a:xfrm>
          <a:prstGeom prst="roundRect">
            <a:avLst>
              <a:gd name="adj" fmla="val 8696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3475577" y="3324225"/>
            <a:ext cx="10784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€70K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3475577" y="3667125"/>
            <a:ext cx="10784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aktuell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810125" y="3133725"/>
            <a:ext cx="1362075" cy="876300"/>
          </a:xfrm>
          <a:prstGeom prst="roundRect">
            <a:avLst>
              <a:gd name="adj" fmla="val 8696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951952" y="3324225"/>
            <a:ext cx="10784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4951952" y="3667125"/>
            <a:ext cx="10784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 SLA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477000" y="1457325"/>
            <a:ext cx="2286000" cy="295275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6667500" y="168592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PARTNERSHIPS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667500" y="2833687"/>
            <a:ext cx="1905000" cy="0"/>
          </a:xfrm>
          <a:prstGeom prst="line">
            <a:avLst/>
          </a:prstGeom>
          <a:noFill/>
          <a:ln w="9525">
            <a:solidFill>
              <a:srgbClr val="3A3A4E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667500" y="202882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LOXONE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667500" y="2295525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Partner 2024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667500" y="2486025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€450K Vertrag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6667500" y="3605213"/>
            <a:ext cx="1905000" cy="0"/>
          </a:xfrm>
          <a:prstGeom prst="line">
            <a:avLst/>
          </a:prstGeom>
          <a:noFill/>
          <a:ln w="9525">
            <a:solidFill>
              <a:srgbClr val="3A3A4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667500" y="299085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Verisure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667500" y="3257550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Partner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667500" y="376237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ComfortClick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667500" y="4029075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2250" dirty="0"/>
          </a:p>
        </p:txBody>
      </p:sp>
      <p:pic>
        <p:nvPicPr>
          <p:cNvPr id="3" name="Image 0" descr="/tmp/rasterized-gradient-327fa6d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047750"/>
            <a:ext cx="3009900" cy="1809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1025" y="1285875"/>
            <a:ext cx="26620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SaaS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81025" y="1628775"/>
            <a:ext cx="26620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€199/mo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581025" y="2009775"/>
            <a:ext cx="26620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Subscription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81025" y="2276475"/>
            <a:ext cx="26620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80%+ Gross Margin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81025" y="2466975"/>
            <a:ext cx="26620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Monthly/Annual Billing</a:t>
            </a:r>
            <a:endParaRPr lang="en-US" sz="900" dirty="0"/>
          </a:p>
        </p:txBody>
      </p:sp>
      <p:pic>
        <p:nvPicPr>
          <p:cNvPr id="9" name="Image 1" descr="/tmp/rasterized-gradient-47317ad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047750"/>
            <a:ext cx="3009900" cy="1809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43325" y="1285875"/>
            <a:ext cx="26620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Project Revenue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743325" y="1628775"/>
            <a:ext cx="26620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€15K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3743325" y="2009775"/>
            <a:ext cx="26620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Project Value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743325" y="2276475"/>
            <a:ext cx="26620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Smart Home Installation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743325" y="2466975"/>
            <a:ext cx="26620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LOXONE Integration</a:t>
            </a:r>
            <a:endParaRPr lang="en-US" sz="900" dirty="0"/>
          </a:p>
        </p:txBody>
      </p:sp>
      <p:pic>
        <p:nvPicPr>
          <p:cNvPr id="15" name="Image 2" descr="/tmp/rasterized-gradient-59582b2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09900"/>
            <a:ext cx="3009900" cy="1809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1025" y="3248025"/>
            <a:ext cx="26620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Training &amp; Consulting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81025" y="3590925"/>
            <a:ext cx="26620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€2.5K</a:t>
            </a:r>
            <a:endParaRPr lang="en-US" sz="2250" dirty="0"/>
          </a:p>
        </p:txBody>
      </p:sp>
      <p:sp>
        <p:nvSpPr>
          <p:cNvPr id="18" name="Text 13"/>
          <p:cNvSpPr/>
          <p:nvPr/>
        </p:nvSpPr>
        <p:spPr>
          <a:xfrm>
            <a:off x="581025" y="3971925"/>
            <a:ext cx="26620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Workshop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81025" y="4238625"/>
            <a:ext cx="26620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LOXONE Certification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581025" y="4429125"/>
            <a:ext cx="26620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Technical Training</a:t>
            </a:r>
            <a:endParaRPr lang="en-US" sz="900" dirty="0"/>
          </a:p>
        </p:txBody>
      </p:sp>
      <p:pic>
        <p:nvPicPr>
          <p:cNvPr id="21" name="Image 3" descr="/tmp/rasterized-gradient-2470826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0" y="3009900"/>
            <a:ext cx="3009900" cy="18097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743325" y="3248025"/>
            <a:ext cx="26620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Partner Commission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3743325" y="3590925"/>
            <a:ext cx="26620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250" dirty="0"/>
          </a:p>
        </p:txBody>
      </p:sp>
      <p:sp>
        <p:nvSpPr>
          <p:cNvPr id="24" name="Text 18"/>
          <p:cNvSpPr/>
          <p:nvPr/>
        </p:nvSpPr>
        <p:spPr>
          <a:xfrm>
            <a:off x="3743325" y="3971925"/>
            <a:ext cx="26620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Revenue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3743325" y="4238625"/>
            <a:ext cx="26620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Hardware Sales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3743325" y="4429125"/>
            <a:ext cx="26620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Affiliate Partners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858000" y="1314450"/>
            <a:ext cx="1905000" cy="3238500"/>
          </a:xfrm>
          <a:prstGeom prst="roundRect">
            <a:avLst>
              <a:gd name="adj" fmla="val 8000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7048500" y="1543050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7048500" y="1885950"/>
            <a:ext cx="155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7048500" y="2076450"/>
            <a:ext cx="1554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€850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7048500" y="2533650"/>
            <a:ext cx="155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7048500" y="2724150"/>
            <a:ext cx="1554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€4,200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7048500" y="3181350"/>
            <a:ext cx="155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7048500" y="3371850"/>
            <a:ext cx="1554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4.9x</a:t>
            </a:r>
            <a:endParaRPr lang="en-US" sz="1800" dirty="0"/>
          </a:p>
        </p:txBody>
      </p:sp>
      <p:sp>
        <p:nvSpPr>
          <p:cNvPr id="35" name="Text 29"/>
          <p:cNvSpPr/>
          <p:nvPr/>
        </p:nvSpPr>
        <p:spPr>
          <a:xfrm>
            <a:off x="7048500" y="3829050"/>
            <a:ext cx="155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7048500" y="4019550"/>
            <a:ext cx="1554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mo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5-Jahres Finanzplanung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066800"/>
            <a:ext cx="8382000" cy="2209800"/>
          </a:xfrm>
          <a:prstGeom prst="roundRect">
            <a:avLst>
              <a:gd name="adj" fmla="val 5172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3429000"/>
            <a:ext cx="2692450" cy="971550"/>
          </a:xfrm>
          <a:prstGeom prst="roundRect">
            <a:avLst>
              <a:gd name="adj" fmla="val 11765"/>
            </a:avLst>
          </a:prstGeom>
          <a:solidFill>
            <a:srgbClr val="22C55E">
              <a:alpha val="12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2925" y="3629025"/>
            <a:ext cx="24159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 Target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2925" y="3857625"/>
            <a:ext cx="24159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€4.5M ARR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225850" y="3429000"/>
            <a:ext cx="2692450" cy="971550"/>
          </a:xfrm>
          <a:prstGeom prst="roundRect">
            <a:avLst>
              <a:gd name="adj" fmla="val 11765"/>
            </a:avLst>
          </a:prstGeom>
          <a:solidFill>
            <a:srgbClr val="3B82F6">
              <a:alpha val="12000"/>
            </a:srgbClr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87775" y="3629025"/>
            <a:ext cx="24159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Margin 2029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87775" y="3857625"/>
            <a:ext cx="24159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070699" y="3429000"/>
            <a:ext cx="2692450" cy="971550"/>
          </a:xfrm>
          <a:prstGeom prst="roundRect">
            <a:avLst>
              <a:gd name="adj" fmla="val 11765"/>
            </a:avLst>
          </a:prstGeom>
          <a:solidFill>
            <a:srgbClr val="D4AF37">
              <a:alpha val="12000"/>
            </a:srgbClr>
          </a:solidFill>
          <a:ln w="9525">
            <a:solidFill>
              <a:srgbClr val="D4AF3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32624" y="3629025"/>
            <a:ext cx="24159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5Y CAGR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32624" y="3857625"/>
            <a:ext cx="24159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 - €1.5M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2954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428750"/>
            <a:ext cx="16322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Product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38400" y="1447800"/>
            <a:ext cx="3295650" cy="228600"/>
          </a:xfrm>
          <a:prstGeom prst="roundRect">
            <a:avLst>
              <a:gd name="adj" fmla="val 16667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38400" y="1447800"/>
            <a:ext cx="1153418" cy="228600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73115" y="1428750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€525K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1000" y="192405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3400" y="2057400"/>
            <a:ext cx="16322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Sales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38400" y="2076450"/>
            <a:ext cx="3295650" cy="228600"/>
          </a:xfrm>
          <a:prstGeom prst="roundRect">
            <a:avLst>
              <a:gd name="adj" fmla="val 16667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438400" y="2076450"/>
            <a:ext cx="823913" cy="2286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73115" y="2057400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€375K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1000" y="25527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3400" y="2686050"/>
            <a:ext cx="16322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Team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38400" y="2705100"/>
            <a:ext cx="3295650" cy="228600"/>
          </a:xfrm>
          <a:prstGeom prst="roundRect">
            <a:avLst>
              <a:gd name="adj" fmla="val 16667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438400" y="2705100"/>
            <a:ext cx="659011" cy="22860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73115" y="2686050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€300K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1000" y="318135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3400" y="3314700"/>
            <a:ext cx="16322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Infra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438400" y="3333750"/>
            <a:ext cx="3295650" cy="228600"/>
          </a:xfrm>
          <a:prstGeom prst="roundRect">
            <a:avLst>
              <a:gd name="adj" fmla="val 16667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438400" y="3333750"/>
            <a:ext cx="329505" cy="2286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73115" y="3314700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€150K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81000" y="38100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3400" y="3943350"/>
            <a:ext cx="16322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Buffer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438400" y="3962400"/>
            <a:ext cx="3295650" cy="228600"/>
          </a:xfrm>
          <a:prstGeom prst="roundRect">
            <a:avLst>
              <a:gd name="adj" fmla="val 16667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438400" y="3962400"/>
            <a:ext cx="329505" cy="228600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873115" y="3943350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€150K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8000" y="1600200"/>
            <a:ext cx="1905000" cy="2438400"/>
          </a:xfrm>
          <a:prstGeom prst="roundRect">
            <a:avLst>
              <a:gd name="adj" fmla="val 8000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010400" y="1790700"/>
            <a:ext cx="16322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18M MILESTONES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010400" y="2095500"/>
            <a:ext cx="16322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10400" y="2286000"/>
            <a:ext cx="16322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Launch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10400" y="2552700"/>
            <a:ext cx="16322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10400" y="2743200"/>
            <a:ext cx="16322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Kunden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010400" y="3009900"/>
            <a:ext cx="16322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10400" y="3200400"/>
            <a:ext cx="16322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€1.5M ARR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010400" y="3467100"/>
            <a:ext cx="16322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10400" y="3657600"/>
            <a:ext cx="16322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2250" dirty="0"/>
          </a:p>
        </p:txBody>
      </p:sp>
      <p:pic>
        <p:nvPicPr>
          <p:cNvPr id="3" name="Image 0" descr="/tmp/rasterized-gradient-8b38f6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628775"/>
            <a:ext cx="61722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1025" y="1914525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48010" y="2061270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400175" y="1866900"/>
            <a:ext cx="35268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Ömer Hüseyin Coşkun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00175" y="2171700"/>
            <a:ext cx="3526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00175" y="2438400"/>
            <a:ext cx="3526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Jahre Smart Home Erfahrung. LOXONE Gold Partner.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81000" y="3019425"/>
            <a:ext cx="1981200" cy="1181100"/>
          </a:xfrm>
          <a:prstGeom prst="roundRect">
            <a:avLst>
              <a:gd name="adj" fmla="val 9677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16636" y="3209925"/>
            <a:ext cx="17099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16636" y="3552825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Team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6636" y="3819525"/>
            <a:ext cx="17099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Entwickler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476500" y="3019425"/>
            <a:ext cx="1981200" cy="1181100"/>
          </a:xfrm>
          <a:prstGeom prst="roundRect">
            <a:avLst>
              <a:gd name="adj" fmla="val 9677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612136" y="3209925"/>
            <a:ext cx="17099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12136" y="3552825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612136" y="3819525"/>
            <a:ext cx="17099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PM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0" y="3019425"/>
            <a:ext cx="1981200" cy="1181100"/>
          </a:xfrm>
          <a:prstGeom prst="roundRect">
            <a:avLst>
              <a:gd name="adj" fmla="val 9677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07636" y="3209925"/>
            <a:ext cx="17099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707636" y="3552825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Techniker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07636" y="3819525"/>
            <a:ext cx="17099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Spezialisten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858000" y="1609725"/>
            <a:ext cx="1905000" cy="260985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010400" y="1800225"/>
            <a:ext cx="16322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PLAN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010400" y="2719388"/>
            <a:ext cx="1600200" cy="0"/>
          </a:xfrm>
          <a:prstGeom prst="line">
            <a:avLst/>
          </a:prstGeom>
          <a:noFill/>
          <a:ln w="9525">
            <a:solidFill>
              <a:srgbClr val="3A3A4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10400" y="2105025"/>
            <a:ext cx="16322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2026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010400" y="2371725"/>
            <a:ext cx="16322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 Engineers, Sales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010400" y="3452813"/>
            <a:ext cx="1600200" cy="0"/>
          </a:xfrm>
          <a:prstGeom prst="line">
            <a:avLst/>
          </a:prstGeom>
          <a:noFill/>
          <a:ln w="9525">
            <a:solidFill>
              <a:srgbClr val="3A3A4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10400" y="2838450"/>
            <a:ext cx="16322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2026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010400" y="3105150"/>
            <a:ext cx="16322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 Team Members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010400" y="3571875"/>
            <a:ext cx="16322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FTE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7010400" y="3876675"/>
            <a:ext cx="16322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32802" y="361950"/>
            <a:ext cx="48783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35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662904" y="781050"/>
            <a:ext cx="3818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8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€1.5M Seed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180630" y="1695450"/>
            <a:ext cx="1261765" cy="1104900"/>
          </a:xfrm>
          <a:prstGeom prst="roundRect">
            <a:avLst>
              <a:gd name="adj" fmla="val 10345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78908" y="1962150"/>
            <a:ext cx="6652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Pre-Money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78908" y="2190750"/>
            <a:ext cx="6652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€6M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747195" y="1695450"/>
            <a:ext cx="1459706" cy="1104900"/>
          </a:xfrm>
          <a:prstGeom prst="roundRect">
            <a:avLst>
              <a:gd name="adj" fmla="val 10345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43493" y="1962150"/>
            <a:ext cx="8671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Offered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43493" y="2190750"/>
            <a:ext cx="8671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511701" y="1695450"/>
            <a:ext cx="1451670" cy="1104900"/>
          </a:xfrm>
          <a:prstGeom prst="roundRect">
            <a:avLst>
              <a:gd name="adj" fmla="val 10345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08080" y="1962150"/>
            <a:ext cx="8589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Min. Ticket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08080" y="2190750"/>
            <a:ext cx="85891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€100K</a:t>
            </a:r>
            <a:endParaRPr lang="en-US" sz="2250" dirty="0"/>
          </a:p>
        </p:txBody>
      </p:sp>
      <p:pic>
        <p:nvPicPr>
          <p:cNvPr id="13" name="Image 0" descr="/tmp/rasterized-gradient-b5110c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8656" y="3105150"/>
            <a:ext cx="3506539" cy="7239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172210" y="3333750"/>
            <a:ext cx="27994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€425K committed</a:t>
            </a:r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(28.3% of round)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132802" y="4210050"/>
            <a:ext cx="487839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info@enterprise-universe.com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132802" y="4591050"/>
            <a:ext cx="48783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Target: Q2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Enterprise Universe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Universe - Seed Pitch Deck 2025</dc:title>
  <dc:subject>Seed Financing Round €1.5M</dc:subject>
  <dc:creator>Enterprise Universe GmbH</dc:creator>
  <cp:lastModifiedBy>Enterprise Universe GmbH</cp:lastModifiedBy>
  <cp:revision>1</cp:revision>
  <dcterms:created xsi:type="dcterms:W3CDTF">2025-12-25T03:21:52Z</dcterms:created>
  <dcterms:modified xsi:type="dcterms:W3CDTF">2025-12-25T03:21:52Z</dcterms:modified>
</cp:coreProperties>
</file>