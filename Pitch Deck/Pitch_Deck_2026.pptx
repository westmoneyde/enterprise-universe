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ENTERPRISE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9B872"/>
                </a:solidFill>
              </a:defRPr>
            </a:pPr>
            <a:r>
              <a:t>Das Betriebssystem für Smart Home Unternehmen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657600"/>
            <a:ext cx="3657600" cy="25400"/>
          </a:xfrm>
          <a:prstGeom prst="rect">
            <a:avLst/>
          </a:prstGeom>
          <a:solidFill>
            <a:srgbClr val="E9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SEED ROUND 2026  |  €1.500.000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Ömer Hüseyin Coskun  |  Founder &amp; CEO</a:t>
            </a:r>
            <a:br/>
            <a:r>
              <a:t>info@enterprise-universe.com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2E"/>
                </a:solidFill>
              </a:defRPr>
            </a:pPr>
            <a:r>
              <a:t>Smart Home Unternehmen arbeiten mit 15+ fragmentierten Tools: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74C3C"/>
                </a:solidFill>
              </a:defRPr>
            </a:pPr>
            <a:r>
              <a:t>Excel  →  WhatsApp  →  CRM  →  E-Mail  →  Kalender  →  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74C3C"/>
                </a:solidFill>
              </a:defRPr>
            </a:pPr>
            <a: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2E"/>
                </a:solidFill>
              </a:defRPr>
            </a:pPr>
            <a:r>
              <a:t>der Leads gehen verloren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7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74C3C"/>
                </a:solidFill>
              </a:defRPr>
            </a:pPr>
            <a:r>
              <a:t>8h/Woche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61187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2E"/>
                </a:solidFill>
              </a:defRPr>
            </a:pPr>
            <a:r>
              <a:t>für Admin-Tasks verschwendet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74C3C"/>
                </a:solidFill>
              </a:defRPr>
            </a:pPr>
            <a: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2062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2E"/>
                </a:solidFill>
              </a:defRPr>
            </a:pPr>
            <a:r>
              <a:t>Übersicht über die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74C3C"/>
                </a:solidFill>
              </a:defRPr>
            </a:pPr>
            <a:r>
              <a:t>2-3 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0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2E"/>
                </a:solidFill>
              </a:defRPr>
            </a:pPr>
            <a:r>
              <a:t>für manuelle Angebotserstellung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MARKTCHANCE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2E"/>
                </a:solidFill>
              </a:defRPr>
            </a:pPr>
            <a:r>
              <a:t>Smart Home Markt Deutschland: €12,2 Mrd. → €21,5 Mrd. (+12% CAGR)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5603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9B872"/>
                </a:solidFill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€850M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85.000 Elektro/Smart Home</a:t>
            </a:r>
            <a:br/>
            <a:r>
              <a:t>Unternehmen DACH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1168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9B872"/>
                </a:solidFill>
              </a:defRPr>
            </a:pPr>
            <a: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€120M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00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12.000 Premium-Integratoren</a:t>
            </a:r>
            <a:br/>
            <a:r>
              <a:t>@ €10K/Jahr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011680"/>
            <a:ext cx="2560320" cy="2286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9B872"/>
                </a:solidFill>
              </a:defRPr>
            </a:pPr>
            <a: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€12M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1.200 Kunden bis 2028</a:t>
            </a:r>
            <a:br/>
            <a:r>
              <a:t>(10% Marktanteil)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WEST MONEY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9B872"/>
                </a:solidFill>
              </a:defRPr>
            </a:pPr>
            <a:r>
              <a:t>Das Betriebssystem für Smart Home Unternehmen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93192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CRM &amp; Leads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213E"/>
                </a:solidFill>
              </a:defRPr>
            </a:pPr>
            <a:r>
              <a:t>Branchenspezifisches Lead-Management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393192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WhatsApp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31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213E"/>
                </a:solidFill>
              </a:defRPr>
            </a:pPr>
            <a:r>
              <a:t>Meta API direkt integriert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93192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HAIKU AI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213E"/>
                </a:solidFill>
              </a:defRPr>
            </a:pPr>
            <a:r>
              <a:t>25 KI-Agents für Automatisierung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926080"/>
            <a:ext cx="393192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Projektmanagement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37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213E"/>
                </a:solidFill>
              </a:defRPr>
            </a:pPr>
            <a:r>
              <a:t>Von Angebot bis Abnahme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93192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LOXONE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213E"/>
                </a:solidFill>
              </a:defRPr>
            </a:pPr>
            <a:r>
              <a:t>KNX, ComfortClick, Smart Home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931920"/>
            <a:ext cx="393192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Billing &amp;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343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213E"/>
                </a:solidFill>
              </a:defRPr>
            </a:pPr>
            <a:r>
              <a:t>Angebote, Rechnungen, Zahlungen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011680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9B872"/>
                </a:solidFill>
              </a:defRPr>
            </a:pPr>
            <a:r>
              <a:t>€847K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Revenue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1188720"/>
            <a:ext cx="2011680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137160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9B872"/>
                </a:solidFill>
              </a:defRPr>
            </a:pPr>
            <a:r>
              <a:t>+23.5%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1965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YoY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88720"/>
            <a:ext cx="2011680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7160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9B872"/>
                </a:solidFill>
              </a:defRPr>
            </a:pPr>
            <a:r>
              <a:t>280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65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Active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188720"/>
            <a:ext cx="2011680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37160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9B872"/>
                </a:solidFill>
              </a:defRPr>
            </a:pPr>
            <a:r>
              <a:t>€1.25M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65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Pipeline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 3.170 Kontakte im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432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 17.3% Conversion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 LOXONE Gold Partner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 €425K Already Committed (28%)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 55 Marketing Campaigns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57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 25 AI Agents deployed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0116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9B872"/>
                </a:solidFill>
              </a:defRPr>
            </a:pPr>
            <a: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€49/mo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0F0F0"/>
                </a:solidFill>
              </a:defRPr>
            </a:pPr>
            <a:r>
              <a:t>5 Users</a:t>
            </a:r>
            <a:br/>
            <a:r>
              <a:t>500 Contacts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1371600"/>
            <a:ext cx="20116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1463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9B872"/>
                </a:solidFill>
              </a:defRPr>
            </a:pPr>
            <a:r>
              <a:t>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18288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€149/mo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0F0F0"/>
                </a:solidFill>
              </a:defRPr>
            </a:pPr>
            <a:r>
              <a:t>25 Users</a:t>
            </a:r>
            <a:br/>
            <a:r>
              <a:t>AI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71600"/>
            <a:ext cx="20116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63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9B872"/>
                </a:solidFill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8288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€449/mo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0F0F0"/>
                </a:solidFill>
              </a:defRPr>
            </a:pPr>
            <a:r>
              <a:t>Unlimited</a:t>
            </a:r>
            <a:br/>
            <a:r>
              <a:t>API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371600"/>
            <a:ext cx="20116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463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9B872"/>
                </a:solidFill>
              </a:defRPr>
            </a:pPr>
            <a:r>
              <a:t>GOD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8288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€2.499/mo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0F0F0"/>
                </a:solidFill>
              </a:defRPr>
            </a:pPr>
            <a:r>
              <a:t>Source Code</a:t>
            </a:r>
            <a:br/>
            <a:r>
              <a:t>On-Premise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UNIT ECONOMICS (Target 2027)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ARPU: €3.500/Jahr  |  LTV: €14.000  |  CAC: €2.800  |  LTV:CAC: 5:1  |  Margin: 75%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WETTBEWERBSANALYSE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286000"/>
            <a:ext cx="457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Smart Home</a:t>
            </a:r>
            <a:br/>
            <a:r>
              <a:t>Fokus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754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KI-Automatisierung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27432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E"/>
                </a:solidFill>
              </a:defRPr>
            </a:pPr>
            <a:r>
              <a:t>Generic CRM</a:t>
            </a:r>
            <a:br/>
            <a:r>
              <a:t>HubSpot, Salesforce</a:t>
            </a:r>
            <a:br/>
            <a:r>
              <a:t>Pipedrive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3200400" cy="1645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554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★ WEST MONEY OS</a:t>
            </a:r>
            <a:br/>
            <a:r>
              <a:t>KI + Smart Home</a:t>
            </a:r>
            <a:br/>
            <a:r>
              <a:t>First Mover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Einzige Plattform mit KI + Smart Home Fokus = Kein direkter Wettbewerb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TECHNOLOGIE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9B872"/>
                </a:solidFill>
              </a:defRPr>
            </a:pPr>
            <a:r>
              <a:t>HAIKU AI ENGINE - 25 Genius Bots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92024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EINSTEIN</a:t>
            </a:r>
            <a:br/>
            <a:r>
              <a:t>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645920"/>
            <a:ext cx="192024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SHERLOCK</a:t>
            </a:r>
            <a:br/>
            <a:r>
              <a:t>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45920"/>
            <a:ext cx="192024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DA VINCI</a:t>
            </a:r>
            <a:br/>
            <a:r>
              <a:t>Creative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59" y="1645920"/>
            <a:ext cx="192024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1783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TESLA</a:t>
            </a:r>
            <a:br/>
            <a:r>
              <a:t>IoT/LOXONE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+ 21 weitere spezialisierte KI-Agents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B872"/>
                </a:solidFill>
              </a:defRPr>
            </a:pPr>
            <a:r>
              <a:t>DATEN-MOAT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3.170 Kontakte, proprietäre Smart Home Datenbank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B872"/>
                </a:solidFill>
              </a:defRPr>
            </a:pPr>
            <a:r>
              <a:t>AI-MOAT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0332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25 trainierte Agents, 2.500+ tägliche API-Calls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B872"/>
                </a:solidFill>
              </a:defRPr>
            </a:pPr>
            <a:r>
              <a:t>PARTNER-MOAT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062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LOXONE Gold Partner, exklusive Integrationen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0915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B872"/>
                </a:solidFill>
              </a:defRPr>
            </a:pPr>
            <a:r>
              <a:t>NETWORK EFFECTS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709159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Mehr Kunden → Mehr Daten → Bessere KI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GO-TO-MARKET STRATEGIE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43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B872"/>
                </a:solidFill>
              </a:defRPr>
            </a:pPr>
            <a:r>
              <a:t>PHASE 1: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• West Money OS Launch: 01.01.2026</a:t>
            </a:r>
            <a:br/>
            <a:r>
              <a:t>• Target: 150 zahlende Kunden</a:t>
            </a:r>
            <a:br/>
            <a:r>
              <a:t>• Fokus: LOXONE Partner Network</a:t>
            </a:r>
            <a:br/>
            <a:r>
              <a:t>• Direct Sales + Partner Referrals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71600"/>
            <a:ext cx="2743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B872"/>
                </a:solidFill>
              </a:defRPr>
            </a:pPr>
            <a:r>
              <a:t>PHASE 2: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• Target: 500 Kunden</a:t>
            </a:r>
            <a:br/>
            <a:r>
              <a:t>• Expansion: KNX, ComfortClick Partner</a:t>
            </a:r>
            <a:br/>
            <a:r>
              <a:t>• Content Marketing + Messen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743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B872"/>
                </a:solidFill>
              </a:defRPr>
            </a:pPr>
            <a:r>
              <a:t>PHASE 3: DOMINATE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• Target: 1.200 Kunden / €12M ARR</a:t>
            </a:r>
            <a:br/>
            <a:r>
              <a:t>• Expansion: AT, CH, BeNeLux</a:t>
            </a:r>
            <a:br/>
            <a:r>
              <a:t>• Self-Service + Channel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Kanäle: Partner Referrals (40%) | Direct Sales (30%) | Content/SEO (20%) | Events (10%)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ÖMER HÜSEYIN COSKUN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9B872"/>
                </a:solidFill>
              </a:defRPr>
            </a:pPr>
            <a: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10+ Jahre Smart Home Erfahrung</a:t>
            </a:r>
            <a:br/>
            <a:r>
              <a:t>• LOXONE Gold Partner seit 2020</a:t>
            </a:r>
            <a:br/>
            <a:r>
              <a:t>• €1M+ Projekte umgesetzt</a:t>
            </a:r>
            <a:br/>
            <a:r>
              <a:t>• Serial Entrepreneur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PORTFOLIO UNTERNEHMEN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41148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West Money Bau GmbH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6213E"/>
                </a:solidFill>
              </a:defRPr>
            </a:pPr>
            <a:r>
              <a:t>Smart Home / LOXONE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606040"/>
            <a:ext cx="41148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Z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6213E"/>
                </a:solidFill>
              </a:defRPr>
            </a:pPr>
            <a:r>
              <a:t>Gebäudeautomation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383280"/>
            <a:ext cx="41148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DedSec World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49040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6213E"/>
                </a:solidFill>
              </a:defRPr>
            </a:pPr>
            <a:r>
              <a:t>AR/VR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HIRING PLAN: CTO (Q1 2026) | Sales Lead (Q2 2026) | 3 Engineers (2026)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FINANZPLANUNG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Jahr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2801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ARR (SaaS)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Kunden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373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€847K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373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280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+23.5%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1488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€1.25M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1488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€180K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1488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4884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+47%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603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5603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€1.80M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5603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€540K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5603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150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603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+200%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971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2971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€3.20M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971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€1.75M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971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971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+224%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383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3383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€6.50M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383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€4.20M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383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1.200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3832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+140%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Break-even: Q3 2027 bei 300 Kunden / €1.05M ARR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6213E"/>
                </a:solidFill>
              </a:defRPr>
            </a:pPr>
            <a:r>
              <a:t>Unit Economics: ARPU €3.5K | LTV €14K | CAC €2.8K | LTV:CAC 5:1 | Margin 75%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VERWENDUNG DER MITTEL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9B872"/>
                </a:solidFill>
              </a:defRPr>
            </a:pPr>
            <a:r>
              <a:t>€1.500.000 Seed 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PRODUKT &amp; TECH (€675K)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CTO, 3 Engineers, AI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3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SALES &amp; MARKETING (€450K)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774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Sales Lead, Messen, Partner Program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39"/>
            <a:ext cx="137160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8035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34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OPERATIONS (€225K)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1089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Legal, Compliance, 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59"/>
            <a:ext cx="914400" cy="45720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118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661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RESERVE (€150K)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404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Buffer für 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9B872"/>
                </a:solidFill>
              </a:defRPr>
            </a:pPr>
            <a:r>
              <a:t>RUNWAY: 18 Monate  |  Key Hires: CTO (Q1), Sales Lead (Q2), 3 Engineers (2026)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INVESTMENT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9B872"/>
                </a:solidFill>
              </a:defRPr>
            </a:pPr>
            <a:r>
              <a:t>SEED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Raise: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€1.500.000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Pre-Money: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48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€6.000.000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Post-Money: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468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€7.500.000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Equity: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88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Min. Ticket: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€100.000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Committed: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4290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€425.000 (28%)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371600"/>
            <a:ext cx="4114800" cy="2286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MILESTONES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920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✓ Q1 2026: West Money OS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331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✓ Q2 2026: 50 zahlende SaaS Kunden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432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✓ Q4 2026: €540K ARR / 150 Kunden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1546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✓ 2027: Series A Ready @ €25M+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INVESTOR BENEFITS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6213E"/>
                </a:solidFill>
              </a:defRPr>
            </a:pPr>
            <a:r>
              <a:t>Pro-rata Rights  |  Quarterly Reporting  |  Board Observer (€500K+)  |  Information Rights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EXIT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Szenario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Multiple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Käufer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Strategic 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2028-2030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8-10x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€33-50M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LOXONE, Siemens, CRM Players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PE Roll-up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2029-2031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6-8x ARR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€25-33M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Vertical SaaS Consolidators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IPO (long-term)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2032+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12-15x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€50M+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Bei €50M+ ARR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COMPARABLE EXITS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AE60"/>
                </a:solidFill>
              </a:defRPr>
            </a:pPr>
            <a:r>
              <a:t>ServiceTitan (15x ARR)  |  Procore (18x ARR)  |  Veeva (25x ARR)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B872"/>
                </a:solidFill>
              </a:defRPr>
            </a:pPr>
            <a:r>
              <a:t>Projected Return: 15-20x bei €6M Pre-Money und €12M ARR Exit (2028)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FFFFFF"/>
                </a:solidFill>
              </a:defRPr>
            </a:pPr>
            <a:r>
              <a:t>"Wir bauen nicht nur Software.</a:t>
            </a:r>
            <a:br/>
            <a:r>
              <a:t>Wir bauen das Betriebssystem</a:t>
            </a:r>
            <a:br/>
            <a:r>
              <a:t>für eine ganze Industrie."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9B872"/>
                </a:solidFill>
              </a:defRPr>
            </a:pPr>
            <a:r>
              <a:t>— Ömer Hüseyin Coskun, Founder &amp; CEO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657600"/>
            <a:ext cx="3657600" cy="25400"/>
          </a:xfrm>
          <a:prstGeom prst="rect">
            <a:avLst/>
          </a:prstGeom>
          <a:solidFill>
            <a:srgbClr val="E9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KONTAKT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info@enterprise-universe.com</a:t>
            </a:r>
            <a:br/>
            <a:r>
              <a:t>enterprise-universe.one</a:t>
            </a:r>
            <a:br/>
            <a:r>
              <a:t>Köln, Deutschland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9B872"/>
                </a:solidFill>
              </a:defRPr>
            </a:pPr>
            <a:r>
              <a:t>DATA ROOM AVAILABLE 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