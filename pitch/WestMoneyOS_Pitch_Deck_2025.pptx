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3469" y="943124"/>
            <a:ext cx="1637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Aft>
                <a:spcPts val="1500"/>
              </a:spcAft>
              <a:buNone/>
            </a:pPr>
            <a:r>
              <a:rPr lang="en-US" sz="9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2025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288859" y="1446014"/>
            <a:ext cx="456613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00F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WEST MONEY OS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992322" y="2246114"/>
            <a:ext cx="31592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1200"/>
              </a:spcBef>
              <a:buNone/>
            </a:pPr>
            <a:r>
              <a:rPr lang="en-US" sz="13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Smart Building Automation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53801" y="2943225"/>
            <a:ext cx="303639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24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Universe - West Money Bau - LOXONE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2218" y="3663255"/>
            <a:ext cx="15195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0"/>
              </a:spcBef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Oemer Hueseyin Coskun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098826" y="4040386"/>
            <a:ext cx="9461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and Founder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507778"/>
            <a:ext cx="5600700" cy="836265"/>
          </a:xfrm>
          <a:prstGeom prst="roundRect">
            <a:avLst>
              <a:gd name="adj" fmla="val 1366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1025" y="1707803"/>
            <a:ext cx="5304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Fragmentierte Systeme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581025" y="1984028"/>
            <a:ext cx="53046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Gebaeudeautomation, Smart Home, CRM - alles separate Loesungen ohne Integration.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496443"/>
            <a:ext cx="5600700" cy="836265"/>
          </a:xfrm>
          <a:prstGeom prst="roundRect">
            <a:avLst>
              <a:gd name="adj" fmla="val 1366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1025" y="2696468"/>
            <a:ext cx="5304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 Kosten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581025" y="2972693"/>
            <a:ext cx="53046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Teure Einzelloesungen, komplizierte Einrichtung, fehlendes Fachpersonal.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3485108"/>
            <a:ext cx="5600700" cy="836265"/>
          </a:xfrm>
          <a:prstGeom prst="roundRect">
            <a:avLst>
              <a:gd name="adj" fmla="val 1366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1025" y="3685133"/>
            <a:ext cx="5304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Demografischer Wandel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81025" y="3961358"/>
            <a:ext cx="53046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Barrierefreies Bauen wird zur Pflicht. Smarte Loesungen gefragt.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86500" y="1459409"/>
            <a:ext cx="2476500" cy="868561"/>
          </a:xfrm>
          <a:prstGeom prst="roundRect">
            <a:avLst>
              <a:gd name="adj" fmla="val 13160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26899" y="1621334"/>
            <a:ext cx="219570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26899" y="2032695"/>
            <a:ext cx="21957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wuenschen Smart Home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286500" y="2480370"/>
            <a:ext cx="2476500" cy="868561"/>
          </a:xfrm>
          <a:prstGeom prst="roundRect">
            <a:avLst>
              <a:gd name="adj" fmla="val 13160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26899" y="2642295"/>
            <a:ext cx="219570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15-30K EUR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426899" y="3053655"/>
            <a:ext cx="21957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KNX-System pro EFH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86500" y="3501330"/>
            <a:ext cx="2476500" cy="868561"/>
          </a:xfrm>
          <a:prstGeom prst="roundRect">
            <a:avLst>
              <a:gd name="adj" fmla="val 13160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26899" y="3663255"/>
            <a:ext cx="219570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26899" y="4074616"/>
            <a:ext cx="21957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4. ueber 65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44011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Die Loesung: </a:t>
            </a:r>
            <a:pPr algn="l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West Money 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990600"/>
            <a:ext cx="8549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Master Control System fuer alles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2549872"/>
            <a:ext cx="1981200" cy="809476"/>
          </a:xfrm>
          <a:prstGeom prst="roundRect">
            <a:avLst>
              <a:gd name="adj" fmla="val 1412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84386" y="2749897"/>
            <a:ext cx="5744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LOXONE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10226" y="3012728"/>
            <a:ext cx="11227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Steuerung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514600" y="2549872"/>
            <a:ext cx="1981200" cy="809476"/>
          </a:xfrm>
          <a:prstGeom prst="roundRect">
            <a:avLst>
              <a:gd name="adj" fmla="val 1412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68953" y="2749897"/>
            <a:ext cx="6724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20945" y="3012728"/>
            <a:ext cx="9683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Integration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48200" y="2549872"/>
            <a:ext cx="1981200" cy="809476"/>
          </a:xfrm>
          <a:prstGeom prst="roundRect">
            <a:avLst>
              <a:gd name="adj" fmla="val 1412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36974" y="2749897"/>
            <a:ext cx="80350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BOT AI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0125" y="3012728"/>
            <a:ext cx="6772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KI-Automation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781800" y="2549872"/>
            <a:ext cx="1981200" cy="809476"/>
          </a:xfrm>
          <a:prstGeom prst="roundRect">
            <a:avLst>
              <a:gd name="adj" fmla="val 14120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5316" y="2749897"/>
            <a:ext cx="9141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CRM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26703" y="3012728"/>
            <a:ext cx="8912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Management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97180" y="460251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200"/>
              </a:spcBef>
              <a:buNone/>
            </a:pPr>
            <a:r>
              <a:rPr lang="en-US" sz="9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3233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PRODUKT-OEKOSYSTEM</a:t>
            </a:r>
            <a:endParaRPr lang="en-US" sz="2700" dirty="0"/>
          </a:p>
        </p:txBody>
      </p:sp>
      <p:pic>
        <p:nvPicPr>
          <p:cNvPr id="3" name="Image 0" descr="/tmp/rasterized-gradient-96f0659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740396"/>
            <a:ext cx="5524500" cy="1083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0065" y="1930896"/>
            <a:ext cx="52463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CONTROL SYSTEM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20065" y="2102346"/>
            <a:ext cx="524637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MONEY OS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520065" y="2487067"/>
            <a:ext cx="524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Dashboard - AI-Powered - Cloud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381000" y="2938463"/>
            <a:ext cx="2714625" cy="565696"/>
          </a:xfrm>
          <a:prstGeom prst="roundRect">
            <a:avLst>
              <a:gd name="adj" fmla="val 16838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04825" y="3062288"/>
            <a:ext cx="2516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Plugin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4825" y="3260378"/>
            <a:ext cx="25163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API - Consent - Auto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190875" y="2938463"/>
            <a:ext cx="2714625" cy="565696"/>
          </a:xfrm>
          <a:prstGeom prst="roundRect">
            <a:avLst>
              <a:gd name="adj" fmla="val 16838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14700" y="3062288"/>
            <a:ext cx="2516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Locker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14700" y="3260378"/>
            <a:ext cx="25163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- Secure - DSGVO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81000" y="3599408"/>
            <a:ext cx="2714625" cy="565696"/>
          </a:xfrm>
          <a:prstGeom prst="roundRect">
            <a:avLst>
              <a:gd name="adj" fmla="val 16838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4825" y="3723233"/>
            <a:ext cx="2516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BOT Ultimate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4825" y="3921323"/>
            <a:ext cx="25163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- Automation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3190875" y="3599408"/>
            <a:ext cx="2714625" cy="565696"/>
          </a:xfrm>
          <a:prstGeom prst="roundRect">
            <a:avLst>
              <a:gd name="adj" fmla="val 16838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14700" y="3723233"/>
            <a:ext cx="25163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Universe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14700" y="3921323"/>
            <a:ext cx="25163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Multi-Company - Analytics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6096000" y="1589038"/>
            <a:ext cx="27203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INTEGRATIONEN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6096000" y="1830884"/>
            <a:ext cx="2667000" cy="1412974"/>
          </a:xfrm>
          <a:prstGeom prst="roundRect">
            <a:avLst>
              <a:gd name="adj" fmla="val 674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219825" y="1954709"/>
            <a:ext cx="2467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LOXONE Miniserver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219825" y="2158454"/>
            <a:ext cx="2467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HubSpot CRM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219825" y="2362200"/>
            <a:ext cx="2467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Zadarma VoIP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219825" y="2565946"/>
            <a:ext cx="2467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E01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6219825" y="2769691"/>
            <a:ext cx="2467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4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Zapier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6219825" y="2973437"/>
            <a:ext cx="2467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Verisure Security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6096000" y="3339108"/>
            <a:ext cx="2667000" cy="552450"/>
          </a:xfrm>
          <a:prstGeom prst="roundRect">
            <a:avLst>
              <a:gd name="adj" fmla="val 17241"/>
            </a:avLst>
          </a:prstGeom>
          <a:solidFill>
            <a:srgbClr val="1A1A2E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219825" y="3462933"/>
            <a:ext cx="2467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VR/AR READY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219825" y="3634383"/>
            <a:ext cx="2467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Quest 3 - Apple Vision Pro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096000" y="3986808"/>
            <a:ext cx="2667000" cy="329505"/>
          </a:xfrm>
          <a:prstGeom prst="roundRect">
            <a:avLst>
              <a:gd name="adj" fmla="val 2890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76201" y="4091583"/>
            <a:ext cx="2506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- PostgreSQL - Docker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GESCHAEFTSMODELL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663154"/>
            <a:ext cx="2717750" cy="1159966"/>
          </a:xfrm>
          <a:prstGeom prst="roundRect">
            <a:avLst>
              <a:gd name="adj" fmla="val 821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1682204"/>
            <a:ext cx="271775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93988" y="1663154"/>
            <a:ext cx="0" cy="1159966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" y="2818358"/>
            <a:ext cx="271775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5763" y="1663154"/>
            <a:ext cx="0" cy="1159966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875" y="1834604"/>
            <a:ext cx="2480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23875" y="1987004"/>
            <a:ext cx="2480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3875" y="2211735"/>
            <a:ext cx="24806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25-180K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3875" y="2560290"/>
            <a:ext cx="2480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Projekt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213050" y="1663154"/>
            <a:ext cx="2717750" cy="1159966"/>
          </a:xfrm>
          <a:prstGeom prst="roundRect">
            <a:avLst>
              <a:gd name="adj" fmla="val 821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13050" y="1682204"/>
            <a:ext cx="2717750" cy="0"/>
          </a:xfrm>
          <a:prstGeom prst="line">
            <a:avLst/>
          </a:prstGeom>
          <a:noFill/>
          <a:ln w="38100">
            <a:solidFill>
              <a:srgbClr val="00F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26038" y="1663154"/>
            <a:ext cx="0" cy="1159966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3050" y="2818358"/>
            <a:ext cx="271775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7813" y="1663154"/>
            <a:ext cx="0" cy="1159966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925" y="1834604"/>
            <a:ext cx="2480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55925" y="1987004"/>
            <a:ext cx="2480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Platform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925" y="2211735"/>
            <a:ext cx="24806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99-499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55925" y="2560290"/>
            <a:ext cx="2480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Monat MRR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6045101" y="1663154"/>
            <a:ext cx="2717750" cy="1159966"/>
          </a:xfrm>
          <a:prstGeom prst="roundRect">
            <a:avLst>
              <a:gd name="adj" fmla="val 821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45101" y="1682204"/>
            <a:ext cx="27177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58089" y="1663154"/>
            <a:ext cx="0" cy="1159966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45101" y="2818358"/>
            <a:ext cx="271775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49863" y="1663154"/>
            <a:ext cx="0" cy="1159966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7976" y="1834604"/>
            <a:ext cx="2480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87976" y="1987004"/>
            <a:ext cx="2480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87976" y="2211735"/>
            <a:ext cx="24806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200-2K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87976" y="2560290"/>
            <a:ext cx="24806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Monat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81000" y="2937421"/>
            <a:ext cx="2009775" cy="653355"/>
          </a:xfrm>
          <a:prstGeom prst="roundRect">
            <a:avLst>
              <a:gd name="adj" fmla="val 11663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7204" y="3061246"/>
            <a:ext cx="17973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87204" y="3200251"/>
            <a:ext cx="1797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1.200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505075" y="2937421"/>
            <a:ext cx="2009775" cy="653355"/>
          </a:xfrm>
          <a:prstGeom prst="roundRect">
            <a:avLst>
              <a:gd name="adj" fmla="val 11663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11279" y="3061246"/>
            <a:ext cx="17973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2611279" y="3200251"/>
            <a:ext cx="1797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45.000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29150" y="2937421"/>
            <a:ext cx="2009775" cy="653355"/>
          </a:xfrm>
          <a:prstGeom prst="roundRect">
            <a:avLst>
              <a:gd name="adj" fmla="val 11663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35354" y="3061246"/>
            <a:ext cx="17973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4735354" y="3200251"/>
            <a:ext cx="1797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37.5x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753225" y="2937421"/>
            <a:ext cx="2009775" cy="653355"/>
          </a:xfrm>
          <a:prstGeom prst="roundRect">
            <a:avLst>
              <a:gd name="adj" fmla="val 11663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59429" y="3061246"/>
            <a:ext cx="17973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6859429" y="3200251"/>
            <a:ext cx="1797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500" dirty="0"/>
          </a:p>
        </p:txBody>
      </p:sp>
      <p:pic>
        <p:nvPicPr>
          <p:cNvPr id="42" name="Image 0" descr="/tmp/rasterized-gradient-2ac08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705076"/>
            <a:ext cx="8382000" cy="499021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130417" y="3809851"/>
            <a:ext cx="6155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 1</a:t>
            </a:r>
            <a:endParaRPr lang="en-US" sz="675" dirty="0"/>
          </a:p>
        </p:txBody>
      </p:sp>
      <p:sp>
        <p:nvSpPr>
          <p:cNvPr id="44" name="Text 41"/>
          <p:cNvSpPr/>
          <p:nvPr/>
        </p:nvSpPr>
        <p:spPr>
          <a:xfrm>
            <a:off x="1130417" y="3939332"/>
            <a:ext cx="6155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75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Bautraeger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3186968" y="3809851"/>
            <a:ext cx="6869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 2</a:t>
            </a:r>
            <a:endParaRPr lang="en-US" sz="675" dirty="0"/>
          </a:p>
        </p:txBody>
      </p:sp>
      <p:sp>
        <p:nvSpPr>
          <p:cNvPr id="46" name="Text 43"/>
          <p:cNvSpPr/>
          <p:nvPr/>
        </p:nvSpPr>
        <p:spPr>
          <a:xfrm>
            <a:off x="3186968" y="3939332"/>
            <a:ext cx="6869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75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Pflegeheime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313408" y="3809851"/>
            <a:ext cx="7644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 3</a:t>
            </a:r>
            <a:endParaRPr lang="en-US" sz="675" dirty="0"/>
          </a:p>
        </p:txBody>
      </p:sp>
      <p:sp>
        <p:nvSpPr>
          <p:cNvPr id="48" name="Text 45"/>
          <p:cNvSpPr/>
          <p:nvPr/>
        </p:nvSpPr>
        <p:spPr>
          <a:xfrm>
            <a:off x="5313408" y="3939332"/>
            <a:ext cx="7644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75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EFH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7519325" y="3809851"/>
            <a:ext cx="4926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 4</a:t>
            </a:r>
            <a:endParaRPr lang="en-US" sz="675" dirty="0"/>
          </a:p>
        </p:txBody>
      </p:sp>
      <p:sp>
        <p:nvSpPr>
          <p:cNvPr id="50" name="Text 47"/>
          <p:cNvSpPr/>
          <p:nvPr/>
        </p:nvSpPr>
        <p:spPr>
          <a:xfrm>
            <a:off x="7519325" y="3939332"/>
            <a:ext cx="492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75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Gewerbe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MARKTGROESSE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314450" y="1619250"/>
            <a:ext cx="2667000" cy="2667000"/>
          </a:xfrm>
          <a:prstGeom prst="roundRect">
            <a:avLst>
              <a:gd name="adj" fmla="val 34286"/>
            </a:avLst>
          </a:prstGeom>
          <a:solidFill>
            <a:srgbClr val="8B5CF6">
              <a:alpha val="10000"/>
            </a:srgbClr>
          </a:solidFill>
          <a:ln w="19050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48973" y="1790700"/>
            <a:ext cx="1979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928701" y="1924050"/>
            <a:ext cx="143834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127 Mrd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5450" y="2190750"/>
            <a:ext cx="1905000" cy="1905000"/>
          </a:xfrm>
          <a:prstGeom prst="roundRect">
            <a:avLst>
              <a:gd name="adj" fmla="val 48000"/>
            </a:avLst>
          </a:prstGeom>
          <a:solidFill>
            <a:srgbClr val="00F0FF">
              <a:alpha val="15000"/>
            </a:srgbClr>
          </a:solidFill>
          <a:ln w="19050">
            <a:solidFill>
              <a:srgbClr val="00F0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42599" y="2343150"/>
            <a:ext cx="2105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075646" y="2476500"/>
            <a:ext cx="11446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4.2 Mrd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24075" y="2762250"/>
            <a:ext cx="1047750" cy="1047750"/>
          </a:xfrm>
          <a:prstGeom prst="roundRect">
            <a:avLst>
              <a:gd name="adj" fmla="val 87273"/>
            </a:avLst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48216" y="3119438"/>
            <a:ext cx="1993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220318" y="3239393"/>
            <a:ext cx="8551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85 Mio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43500" y="1477417"/>
            <a:ext cx="3619500" cy="579090"/>
          </a:xfrm>
          <a:prstGeom prst="roundRect">
            <a:avLst>
              <a:gd name="adj" fmla="val 1644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143500" y="1482179"/>
            <a:ext cx="361950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58238" y="1477417"/>
            <a:ext cx="0" cy="57909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43500" y="2051745"/>
            <a:ext cx="361950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2550" y="1477417"/>
            <a:ext cx="0" cy="57909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5900" y="1601242"/>
            <a:ext cx="34101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- Total Addressable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95900" y="1799332"/>
            <a:ext cx="3410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Smart Building und Automation Markt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43500" y="2170807"/>
            <a:ext cx="3619500" cy="579090"/>
          </a:xfrm>
          <a:prstGeom prst="roundRect">
            <a:avLst>
              <a:gd name="adj" fmla="val 1644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143500" y="2175570"/>
            <a:ext cx="361950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8238" y="2170807"/>
            <a:ext cx="0" cy="57909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3500" y="2745135"/>
            <a:ext cx="361950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2550" y="2170807"/>
            <a:ext cx="0" cy="579090"/>
          </a:xfrm>
          <a:prstGeom prst="line">
            <a:avLst/>
          </a:prstGeom>
          <a:noFill/>
          <a:ln w="38100">
            <a:solidFill>
              <a:srgbClr val="00F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95900" y="2294632"/>
            <a:ext cx="34101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- Serviceable Available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95900" y="2492722"/>
            <a:ext cx="3410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DACH Smart Home Neubau und Sanierung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43500" y="2864197"/>
            <a:ext cx="3619500" cy="579090"/>
          </a:xfrm>
          <a:prstGeom prst="roundRect">
            <a:avLst>
              <a:gd name="adj" fmla="val 1644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143500" y="2868960"/>
            <a:ext cx="361950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58238" y="2864197"/>
            <a:ext cx="0" cy="57909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43500" y="3438525"/>
            <a:ext cx="3619500" cy="0"/>
          </a:xfrm>
          <a:prstGeom prst="line">
            <a:avLst/>
          </a:prstGeom>
          <a:noFill/>
          <a:ln w="9525">
            <a:solidFill>
              <a:srgbClr val="2A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2550" y="2864197"/>
            <a:ext cx="0" cy="57909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5900" y="2988022"/>
            <a:ext cx="34101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- Serviceable Obtainable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95900" y="3186113"/>
            <a:ext cx="34101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NRW-Fokus Duesseldorf Koeln Ruhrgebiet</a:t>
            </a:r>
            <a:endParaRPr lang="en-US" sz="750" dirty="0"/>
          </a:p>
        </p:txBody>
      </p:sp>
      <p:pic>
        <p:nvPicPr>
          <p:cNvPr id="33" name="Image 0" descr="/tmp/rasterized-gradient-53c1ff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3557588"/>
            <a:ext cx="3619500" cy="87049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267325" y="3681413"/>
            <a:ext cx="34392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MARKTWACHSTUM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267325" y="3890962"/>
            <a:ext cx="60615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15.3%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5267325" y="4184303"/>
            <a:ext cx="6061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675" dirty="0"/>
          </a:p>
        </p:txBody>
      </p:sp>
      <p:sp>
        <p:nvSpPr>
          <p:cNvPr id="37" name="Text 34"/>
          <p:cNvSpPr/>
          <p:nvPr/>
        </p:nvSpPr>
        <p:spPr>
          <a:xfrm>
            <a:off x="6013996" y="3890962"/>
            <a:ext cx="55272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+73%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6013996" y="4184303"/>
            <a:ext cx="55272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Pflege</a:t>
            </a:r>
            <a:endParaRPr lang="en-US" sz="675" dirty="0"/>
          </a:p>
        </p:txBody>
      </p:sp>
      <p:sp>
        <p:nvSpPr>
          <p:cNvPr id="39" name="Text 36"/>
          <p:cNvSpPr/>
          <p:nvPr/>
        </p:nvSpPr>
        <p:spPr>
          <a:xfrm>
            <a:off x="6708279" y="3890962"/>
            <a:ext cx="4753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2.1M</a:t>
            </a:r>
            <a:endParaRPr lang="en-US" sz="1650" dirty="0"/>
          </a:p>
        </p:txBody>
      </p:sp>
      <p:sp>
        <p:nvSpPr>
          <p:cNvPr id="40" name="Text 37"/>
          <p:cNvSpPr/>
          <p:nvPr/>
        </p:nvSpPr>
        <p:spPr>
          <a:xfrm>
            <a:off x="6708279" y="4184303"/>
            <a:ext cx="4753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Neubau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55281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UND MEILENSTEINE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30809"/>
            <a:ext cx="1995487" cy="1270397"/>
          </a:xfrm>
          <a:prstGeom prst="roundRect">
            <a:avLst>
              <a:gd name="adj" fmla="val 1049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5640" y="1411784"/>
            <a:ext cx="166620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847K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5640" y="1876574"/>
            <a:ext cx="16662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 2025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545640" y="2080320"/>
            <a:ext cx="166620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450"/>
              </a:spcBef>
              <a:buNone/>
            </a:pPr>
            <a:r>
              <a:rPr lang="en-US" sz="13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+23.5% YoY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09838" y="1230809"/>
            <a:ext cx="1995487" cy="1270397"/>
          </a:xfrm>
          <a:prstGeom prst="roundRect">
            <a:avLst>
              <a:gd name="adj" fmla="val 1049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74477" y="1411784"/>
            <a:ext cx="166620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74477" y="1876574"/>
            <a:ext cx="16662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Markenanmeldungen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674477" y="2080320"/>
            <a:ext cx="166620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450"/>
              </a:spcBef>
              <a:buNone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Patente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38675" y="1230809"/>
            <a:ext cx="1995487" cy="1270397"/>
          </a:xfrm>
          <a:prstGeom prst="roundRect">
            <a:avLst>
              <a:gd name="adj" fmla="val 1049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3315" y="1411784"/>
            <a:ext cx="166620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1.2M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03315" y="1876574"/>
            <a:ext cx="16662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Value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03315" y="2080320"/>
            <a:ext cx="166620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450"/>
              </a:spcBef>
              <a:buNone/>
            </a:pPr>
            <a:r>
              <a:rPr lang="en-US" sz="13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Leads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67513" y="1230809"/>
            <a:ext cx="1995487" cy="1270397"/>
          </a:xfrm>
          <a:prstGeom prst="roundRect">
            <a:avLst>
              <a:gd name="adj" fmla="val 1049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32152" y="1411784"/>
            <a:ext cx="166620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32152" y="1876574"/>
            <a:ext cx="16662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Integrationen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932152" y="2080320"/>
            <a:ext cx="166620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450"/>
              </a:spcBef>
              <a:buNone/>
            </a:pPr>
            <a:r>
              <a:rPr lang="en-US" sz="135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1000" y="2634555"/>
            <a:ext cx="8382000" cy="1302841"/>
          </a:xfrm>
          <a:prstGeom prst="roundRect">
            <a:avLst>
              <a:gd name="adj" fmla="val 10235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1975" y="2815530"/>
            <a:ext cx="81804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050"/>
              </a:spcAft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TIMELINE</a:t>
            </a:r>
            <a:endParaRPr lang="en-US" sz="825" dirty="0"/>
          </a:p>
        </p:txBody>
      </p:sp>
      <p:pic>
        <p:nvPicPr>
          <p:cNvPr id="21" name="Image 0" descr="/tmp/rasterized-gradient-a6cac0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3975" y="3228826"/>
            <a:ext cx="6496050" cy="2857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14500" y="309547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777566" y="3162151"/>
            <a:ext cx="1404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36258" y="3438376"/>
            <a:ext cx="26231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36258" y="3623072"/>
            <a:ext cx="2623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438650" y="309547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476970" y="3175546"/>
            <a:ext cx="1900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3260408" y="3438376"/>
            <a:ext cx="26231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01.01.2026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260408" y="3623072"/>
            <a:ext cx="2623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Launch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162800" y="309547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A2A4A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984558" y="3438376"/>
            <a:ext cx="26231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5984558" y="3623072"/>
            <a:ext cx="26231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DACH Expansion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81000" y="4070747"/>
            <a:ext cx="5772150" cy="603796"/>
          </a:xfrm>
          <a:prstGeom prst="roundRect">
            <a:avLst>
              <a:gd name="adj" fmla="val 15775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4825" y="4194572"/>
            <a:ext cx="56349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04825" y="4404122"/>
            <a:ext cx="56349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LOXONE - HubSpot - Verisure - Zadarma - WhatsApp</a:t>
            </a:r>
            <a:endParaRPr lang="en-US" sz="825" dirty="0"/>
          </a:p>
        </p:txBody>
      </p:sp>
      <p:pic>
        <p:nvPicPr>
          <p:cNvPr id="36" name="Image 1" descr="/tmp/rasterized-gradient-6cfa057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4080272"/>
            <a:ext cx="2476500" cy="584746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410325" y="4204097"/>
            <a:ext cx="22734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PORTFOLIO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6410325" y="4394597"/>
            <a:ext cx="22734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Trademarks - 12 Patents - 6 Domains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TEAM</a:t>
            </a:r>
            <a:endParaRPr lang="en-US" sz="2700" dirty="0"/>
          </a:p>
        </p:txBody>
      </p:sp>
      <p:pic>
        <p:nvPicPr>
          <p:cNvPr id="3" name="Image 0" descr="/tmp/rasterized-gradient-d1a103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63266"/>
            <a:ext cx="8382000" cy="1828354"/>
          </a:xfrm>
          <a:prstGeom prst="rect">
            <a:avLst/>
          </a:prstGeom>
        </p:spPr>
      </p:pic>
      <p:pic>
        <p:nvPicPr>
          <p:cNvPr id="4" name="Image 1" descr="/tmp/rasterized-gradient-258065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01118"/>
            <a:ext cx="952500" cy="952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2037308"/>
            <a:ext cx="52463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1771650" y="1734592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UND CEO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1771650" y="1867942"/>
            <a:ext cx="4935474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Oemer Hueseyin Coskun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771650" y="2271713"/>
            <a:ext cx="49354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Visionaerer Unternehmer mit Expertise in Smart Home, Gebaeudeautomation und digitaler Transformation.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771650" y="2686943"/>
            <a:ext cx="4935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LOXONE Certified - Serial Entrepreneur - Tech Innovator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6819900" y="1591866"/>
            <a:ext cx="1714500" cy="418951"/>
          </a:xfrm>
          <a:prstGeom prst="roundRect">
            <a:avLst>
              <a:gd name="adj" fmla="val 1818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896100" y="1668066"/>
            <a:ext cx="1593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Money Bau</a:t>
            </a:r>
            <a:endParaRPr lang="en-US" sz="675" dirty="0"/>
          </a:p>
        </p:txBody>
      </p:sp>
      <p:sp>
        <p:nvSpPr>
          <p:cNvPr id="12" name="Text 8"/>
          <p:cNvSpPr/>
          <p:nvPr/>
        </p:nvSpPr>
        <p:spPr>
          <a:xfrm>
            <a:off x="6896100" y="1788021"/>
            <a:ext cx="15933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6819900" y="2067967"/>
            <a:ext cx="1714500" cy="418951"/>
          </a:xfrm>
          <a:prstGeom prst="roundRect">
            <a:avLst>
              <a:gd name="adj" fmla="val 1818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896100" y="2144167"/>
            <a:ext cx="1593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Universe</a:t>
            </a:r>
            <a:endParaRPr lang="en-US" sz="675" dirty="0"/>
          </a:p>
        </p:txBody>
      </p:sp>
      <p:sp>
        <p:nvSpPr>
          <p:cNvPr id="15" name="Text 11"/>
          <p:cNvSpPr/>
          <p:nvPr/>
        </p:nvSpPr>
        <p:spPr>
          <a:xfrm>
            <a:off x="6896100" y="2264122"/>
            <a:ext cx="15933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6819900" y="2544068"/>
            <a:ext cx="1714500" cy="418951"/>
          </a:xfrm>
          <a:prstGeom prst="roundRect">
            <a:avLst>
              <a:gd name="adj" fmla="val 18188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896100" y="2620268"/>
            <a:ext cx="159334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 Marketing</a:t>
            </a:r>
            <a:endParaRPr lang="en-US" sz="675" dirty="0"/>
          </a:p>
        </p:txBody>
      </p:sp>
      <p:sp>
        <p:nvSpPr>
          <p:cNvPr id="18" name="Text 14"/>
          <p:cNvSpPr/>
          <p:nvPr/>
        </p:nvSpPr>
        <p:spPr>
          <a:xfrm>
            <a:off x="6896100" y="2740223"/>
            <a:ext cx="15933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381000" y="3344019"/>
            <a:ext cx="5581650" cy="1198066"/>
          </a:xfrm>
          <a:prstGeom prst="roundRect">
            <a:avLst>
              <a:gd name="adj" fmla="val 11130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42925" y="3505944"/>
            <a:ext cx="5362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GEPLANTE EINSTELLUNGEN 2026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542925" y="3747790"/>
            <a:ext cx="53629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 Full-Stack - Q1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42925" y="3983980"/>
            <a:ext cx="53629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Manager B2B - Q1 2026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42925" y="4220170"/>
            <a:ext cx="53629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Techniker Installation - Q2 2026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096000" y="3383161"/>
            <a:ext cx="2667000" cy="1119783"/>
          </a:xfrm>
          <a:prstGeom prst="roundRect">
            <a:avLst>
              <a:gd name="adj" fmla="val 11909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257925" y="3545086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BOARD PLANNED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6257925" y="3786932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Expert - Ex-LOXONE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6257925" y="3990677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PropTech Investor - VC</a:t>
            </a:r>
            <a:endParaRPr lang="en-US" sz="825" dirty="0"/>
          </a:p>
        </p:txBody>
      </p:sp>
      <p:sp>
        <p:nvSpPr>
          <p:cNvPr id="28" name="Text 24"/>
          <p:cNvSpPr/>
          <p:nvPr/>
        </p:nvSpPr>
        <p:spPr>
          <a:xfrm>
            <a:off x="6257925" y="4194423"/>
            <a:ext cx="2390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Advisor - Pflege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998637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FINANZPROGNOSE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696492"/>
            <a:ext cx="6153150" cy="1670596"/>
          </a:xfrm>
          <a:prstGeom prst="roundRect">
            <a:avLst>
              <a:gd name="adj" fmla="val 7982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839367"/>
            <a:ext cx="59847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UMSATZPROGNOSE 2025-2028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676275" y="2548086"/>
            <a:ext cx="1276350" cy="333375"/>
          </a:xfrm>
          <a:prstGeom prst="roundRect">
            <a:avLst>
              <a:gd name="adj" fmla="val 11429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5738" y="2919561"/>
            <a:ext cx="55727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847K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27923" y="3117652"/>
            <a:ext cx="17290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2105025" y="2309961"/>
            <a:ext cx="1276350" cy="571500"/>
          </a:xfrm>
          <a:prstGeom prst="roundRect">
            <a:avLst>
              <a:gd name="adj" fmla="val 6667"/>
            </a:avLst>
          </a:prstGeom>
          <a:solidFill>
            <a:srgbClr val="00F0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74204" y="2919561"/>
            <a:ext cx="5378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1.8M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6673" y="3117652"/>
            <a:ext cx="17290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533775" y="2024211"/>
            <a:ext cx="1276350" cy="857250"/>
          </a:xfrm>
          <a:prstGeom prst="roundRect">
            <a:avLst>
              <a:gd name="adj" fmla="val 444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02954" y="2919561"/>
            <a:ext cx="5378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3.5M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85423" y="3117652"/>
            <a:ext cx="17290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962525" y="1738461"/>
            <a:ext cx="1276350" cy="1143000"/>
          </a:xfrm>
          <a:prstGeom prst="roundRect">
            <a:avLst>
              <a:gd name="adj" fmla="val 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31704" y="2919561"/>
            <a:ext cx="5378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6.2M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14173" y="3117652"/>
            <a:ext cx="17290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600" dirty="0"/>
          </a:p>
        </p:txBody>
      </p:sp>
      <p:pic>
        <p:nvPicPr>
          <p:cNvPr id="17" name="Image 0" descr="/tmp/rasterized-gradient-90fe2b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0" y="1608237"/>
            <a:ext cx="2095500" cy="63609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53416" y="1713012"/>
            <a:ext cx="19236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2025-2028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753416" y="1819573"/>
            <a:ext cx="19236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67500" y="2320528"/>
            <a:ext cx="2095500" cy="529382"/>
          </a:xfrm>
          <a:prstGeom prst="roundRect">
            <a:avLst>
              <a:gd name="adj" fmla="val 17993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753416" y="2425303"/>
            <a:ext cx="19236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753416" y="2531864"/>
            <a:ext cx="19236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67500" y="2926110"/>
            <a:ext cx="2095500" cy="529382"/>
          </a:xfrm>
          <a:prstGeom prst="roundRect">
            <a:avLst>
              <a:gd name="adj" fmla="val 17993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753416" y="3030885"/>
            <a:ext cx="19236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2028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753416" y="3137446"/>
            <a:ext cx="19236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81000" y="3587800"/>
            <a:ext cx="3295650" cy="520005"/>
          </a:xfrm>
          <a:prstGeom prst="roundRect">
            <a:avLst>
              <a:gd name="adj" fmla="val 1831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5775" y="3692575"/>
            <a:ext cx="31478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MIX 2028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485775" y="3869680"/>
            <a:ext cx="31478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45% - SaaS 35% - Service 20%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810000" y="3587800"/>
            <a:ext cx="3295650" cy="520005"/>
          </a:xfrm>
          <a:prstGeom prst="roundRect">
            <a:avLst>
              <a:gd name="adj" fmla="val 18317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914775" y="3692575"/>
            <a:ext cx="31478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3914775" y="3869680"/>
            <a:ext cx="31478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Project EUR 65K - ARPU EUR 249/mo</a:t>
            </a:r>
            <a:endParaRPr lang="en-US" sz="750" dirty="0"/>
          </a:p>
        </p:txBody>
      </p:sp>
      <p:pic>
        <p:nvPicPr>
          <p:cNvPr id="32" name="Image 1" descr="/tmp/rasterized-gradient-6d6a5c6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3569791"/>
            <a:ext cx="1524000" cy="55602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330631" y="3674566"/>
            <a:ext cx="134073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2028</a:t>
            </a:r>
            <a:endParaRPr lang="en-US" sz="600" dirty="0"/>
          </a:p>
        </p:txBody>
      </p:sp>
      <p:sp>
        <p:nvSpPr>
          <p:cNvPr id="34" name="Text 30"/>
          <p:cNvSpPr/>
          <p:nvPr/>
        </p:nvSpPr>
        <p:spPr>
          <a:xfrm>
            <a:off x="7330631" y="3781127"/>
            <a:ext cx="134073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180K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284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2400" dirty="0"/>
          </a:p>
        </p:txBody>
      </p:sp>
      <p:pic>
        <p:nvPicPr>
          <p:cNvPr id="3" name="Image 0" descr="/tmp/rasterized-gradient-041b26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167854"/>
            <a:ext cx="4591050" cy="1643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831" y="1377404"/>
            <a:ext cx="4255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48831" y="1539329"/>
            <a:ext cx="4255389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1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500K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548831" y="2146995"/>
            <a:ext cx="42553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75"/>
              </a:spcBef>
              <a:buNone/>
            </a:pPr>
            <a:r>
              <a:rPr lang="en-US" sz="90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 15% Equity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0550" y="2387947"/>
            <a:ext cx="417195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831" y="2468910"/>
            <a:ext cx="4255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Pre-Money: </a:t>
            </a:r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2.83M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81000" y="2926110"/>
            <a:ext cx="4591050" cy="1072455"/>
          </a:xfrm>
          <a:prstGeom prst="roundRect">
            <a:avLst>
              <a:gd name="adj" fmla="val 8881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4825" y="3049935"/>
            <a:ext cx="443026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TERMS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504825" y="3227040"/>
            <a:ext cx="4590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990826" y="3227040"/>
            <a:ext cx="8745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/ Convertible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4825" y="3398490"/>
            <a:ext cx="394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329261" y="3398490"/>
            <a:ext cx="5293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 25.000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4825" y="3569940"/>
            <a:ext cx="4862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Seat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239518" y="3569940"/>
            <a:ext cx="6208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EUR 100K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4825" y="3741390"/>
            <a:ext cx="3887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Pro-Rata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456509" y="3741390"/>
            <a:ext cx="399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81000" y="4112865"/>
            <a:ext cx="4591050" cy="586532"/>
          </a:xfrm>
          <a:prstGeom prst="roundRect">
            <a:avLst>
              <a:gd name="adj" fmla="val 16240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5775" y="4217640"/>
            <a:ext cx="446913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75"/>
              </a:spcAft>
              <a:buNone/>
            </a:pPr>
            <a:r>
              <a:rPr lang="en-US" sz="6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473075" y="4385221"/>
            <a:ext cx="129534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73075" y="4501307"/>
            <a:ext cx="129534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</a:t>
            </a:r>
            <a:endParaRPr lang="en-US" sz="525" dirty="0"/>
          </a:p>
        </p:txBody>
      </p:sp>
      <p:sp>
        <p:nvSpPr>
          <p:cNvPr id="23" name="Text 20"/>
          <p:cNvSpPr/>
          <p:nvPr/>
        </p:nvSpPr>
        <p:spPr>
          <a:xfrm>
            <a:off x="1803350" y="4480322"/>
            <a:ext cx="190500" cy="19050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028776" y="4385221"/>
            <a:ext cx="129534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2028776" y="4501307"/>
            <a:ext cx="129534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525" dirty="0"/>
          </a:p>
        </p:txBody>
      </p:sp>
      <p:sp>
        <p:nvSpPr>
          <p:cNvPr id="26" name="Text 23"/>
          <p:cNvSpPr/>
          <p:nvPr/>
        </p:nvSpPr>
        <p:spPr>
          <a:xfrm>
            <a:off x="3359051" y="4480322"/>
            <a:ext cx="190500" cy="19050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584476" y="4385221"/>
            <a:ext cx="129534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3584476" y="4501307"/>
            <a:ext cx="1295349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35"/>
              </a:lnSpc>
              <a:spcBef>
                <a:spcPts val="75"/>
              </a:spcBef>
              <a:buNone/>
            </a:pPr>
            <a:r>
              <a:rPr lang="en-US" sz="525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</a:t>
            </a:r>
            <a:endParaRPr lang="en-US" sz="525" dirty="0"/>
          </a:p>
        </p:txBody>
      </p:sp>
      <p:sp>
        <p:nvSpPr>
          <p:cNvPr id="29" name="Text 26"/>
          <p:cNvSpPr/>
          <p:nvPr/>
        </p:nvSpPr>
        <p:spPr>
          <a:xfrm>
            <a:off x="5143500" y="1396901"/>
            <a:ext cx="3619500" cy="2250877"/>
          </a:xfrm>
          <a:prstGeom prst="roundRect">
            <a:avLst>
              <a:gd name="adj" fmla="val 5078"/>
            </a:avLst>
          </a:prstGeom>
          <a:solidFill>
            <a:srgbClr val="1A1A2E"/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305425" y="1558826"/>
            <a:ext cx="33615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7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305425" y="1806476"/>
            <a:ext cx="11045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8391227" y="1806476"/>
            <a:ext cx="214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5305425" y="1981646"/>
            <a:ext cx="3295650" cy="47625"/>
          </a:xfrm>
          <a:prstGeom prst="roundRect">
            <a:avLst>
              <a:gd name="adj" fmla="val 60000"/>
            </a:avLst>
          </a:prstGeom>
          <a:solidFill>
            <a:srgbClr val="0F0F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1" descr="/tmp/rasterized-gradient-5776c84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425" y="1981646"/>
            <a:ext cx="1318171" cy="47625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305425" y="2048321"/>
            <a:ext cx="336156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Money OS, API, Apps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5305425" y="2250132"/>
            <a:ext cx="6097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Hiring</a:t>
            </a:r>
            <a:endParaRPr lang="en-US" sz="825" dirty="0"/>
          </a:p>
        </p:txBody>
      </p:sp>
      <p:sp>
        <p:nvSpPr>
          <p:cNvPr id="37" name="Text 33"/>
          <p:cNvSpPr/>
          <p:nvPr/>
        </p:nvSpPr>
        <p:spPr>
          <a:xfrm>
            <a:off x="8391227" y="2250132"/>
            <a:ext cx="214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825" dirty="0"/>
          </a:p>
        </p:txBody>
      </p:sp>
      <p:sp>
        <p:nvSpPr>
          <p:cNvPr id="38" name="Text 34"/>
          <p:cNvSpPr/>
          <p:nvPr/>
        </p:nvSpPr>
        <p:spPr>
          <a:xfrm>
            <a:off x="5305425" y="2425303"/>
            <a:ext cx="3295650" cy="47625"/>
          </a:xfrm>
          <a:prstGeom prst="roundRect">
            <a:avLst>
              <a:gd name="adj" fmla="val 60000"/>
            </a:avLst>
          </a:prstGeom>
          <a:solidFill>
            <a:srgbClr val="0F0F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2" descr="/tmp/rasterized-gradient-b79fb8b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425" y="2425303"/>
            <a:ext cx="823913" cy="47625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305425" y="2491978"/>
            <a:ext cx="336156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Lead, Sales, Techniker</a:t>
            </a:r>
            <a:endParaRPr lang="en-US" sz="600" dirty="0"/>
          </a:p>
        </p:txBody>
      </p:sp>
      <p:sp>
        <p:nvSpPr>
          <p:cNvPr id="41" name="Text 36"/>
          <p:cNvSpPr/>
          <p:nvPr/>
        </p:nvSpPr>
        <p:spPr>
          <a:xfrm>
            <a:off x="5305425" y="2693789"/>
            <a:ext cx="10394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und Sales</a:t>
            </a:r>
            <a:endParaRPr lang="en-US" sz="825" dirty="0"/>
          </a:p>
        </p:txBody>
      </p:sp>
      <p:sp>
        <p:nvSpPr>
          <p:cNvPr id="42" name="Text 37"/>
          <p:cNvSpPr/>
          <p:nvPr/>
        </p:nvSpPr>
        <p:spPr>
          <a:xfrm>
            <a:off x="8391227" y="2693789"/>
            <a:ext cx="214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25" dirty="0"/>
          </a:p>
        </p:txBody>
      </p:sp>
      <p:sp>
        <p:nvSpPr>
          <p:cNvPr id="43" name="Text 38"/>
          <p:cNvSpPr/>
          <p:nvPr/>
        </p:nvSpPr>
        <p:spPr>
          <a:xfrm>
            <a:off x="5305425" y="2868960"/>
            <a:ext cx="3295650" cy="47625"/>
          </a:xfrm>
          <a:prstGeom prst="roundRect">
            <a:avLst>
              <a:gd name="adj" fmla="val 60000"/>
            </a:avLst>
          </a:prstGeom>
          <a:solidFill>
            <a:srgbClr val="0F0F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3" descr="/tmp/rasterized-gradient-8756e3c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5425" y="2868960"/>
            <a:ext cx="659011" cy="47625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305425" y="2935635"/>
            <a:ext cx="336156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Gen, Events</a:t>
            </a:r>
            <a:endParaRPr lang="en-US" sz="600" dirty="0"/>
          </a:p>
        </p:txBody>
      </p:sp>
      <p:sp>
        <p:nvSpPr>
          <p:cNvPr id="46" name="Text 40"/>
          <p:cNvSpPr/>
          <p:nvPr/>
        </p:nvSpPr>
        <p:spPr>
          <a:xfrm>
            <a:off x="5305425" y="3137446"/>
            <a:ext cx="10986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und Legal</a:t>
            </a:r>
            <a:endParaRPr lang="en-US" sz="825" dirty="0"/>
          </a:p>
        </p:txBody>
      </p:sp>
      <p:sp>
        <p:nvSpPr>
          <p:cNvPr id="47" name="Text 41"/>
          <p:cNvSpPr/>
          <p:nvPr/>
        </p:nvSpPr>
        <p:spPr>
          <a:xfrm>
            <a:off x="8391227" y="3137446"/>
            <a:ext cx="214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25" dirty="0"/>
          </a:p>
        </p:txBody>
      </p:sp>
      <p:sp>
        <p:nvSpPr>
          <p:cNvPr id="48" name="Text 42"/>
          <p:cNvSpPr/>
          <p:nvPr/>
        </p:nvSpPr>
        <p:spPr>
          <a:xfrm>
            <a:off x="5305425" y="3312616"/>
            <a:ext cx="3295650" cy="47625"/>
          </a:xfrm>
          <a:prstGeom prst="roundRect">
            <a:avLst>
              <a:gd name="adj" fmla="val 60000"/>
            </a:avLst>
          </a:prstGeom>
          <a:solidFill>
            <a:srgbClr val="0F0F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4" descr="/tmp/rasterized-gradient-9367fd5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425" y="3312616"/>
            <a:ext cx="494258" cy="47625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5305425" y="3379291"/>
            <a:ext cx="3361563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IP, Compliance</a:t>
            </a:r>
            <a:endParaRPr lang="en-US" sz="600" dirty="0"/>
          </a:p>
        </p:txBody>
      </p:sp>
      <p:pic>
        <p:nvPicPr>
          <p:cNvPr id="51" name="Image 5" descr="/tmp/rasterized-gradient-200ab13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3762077"/>
            <a:ext cx="3619500" cy="708422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5267325" y="3885902"/>
            <a:ext cx="34392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375"/>
              </a:spcAft>
              <a:buNone/>
            </a:pPr>
            <a:r>
              <a:rPr lang="en-US" sz="67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POTENTIAL (5 JAHRE)</a:t>
            </a:r>
            <a:endParaRPr lang="en-US" sz="675" dirty="0"/>
          </a:p>
        </p:txBody>
      </p:sp>
      <p:sp>
        <p:nvSpPr>
          <p:cNvPr id="53" name="Text 45"/>
          <p:cNvSpPr/>
          <p:nvPr/>
        </p:nvSpPr>
        <p:spPr>
          <a:xfrm>
            <a:off x="5598188" y="4053483"/>
            <a:ext cx="45359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600" dirty="0"/>
          </a:p>
        </p:txBody>
      </p:sp>
      <p:sp>
        <p:nvSpPr>
          <p:cNvPr id="54" name="Text 46"/>
          <p:cNvSpPr/>
          <p:nvPr/>
        </p:nvSpPr>
        <p:spPr>
          <a:xfrm>
            <a:off x="5598188" y="4160044"/>
            <a:ext cx="4535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</a:t>
            </a:r>
            <a:endParaRPr lang="en-US" sz="1050" dirty="0"/>
          </a:p>
        </p:txBody>
      </p:sp>
      <p:sp>
        <p:nvSpPr>
          <p:cNvPr id="55" name="Text 47"/>
          <p:cNvSpPr/>
          <p:nvPr/>
        </p:nvSpPr>
        <p:spPr>
          <a:xfrm>
            <a:off x="6866773" y="4053483"/>
            <a:ext cx="38027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</a:t>
            </a:r>
            <a:endParaRPr lang="en-US" sz="600" dirty="0"/>
          </a:p>
        </p:txBody>
      </p:sp>
      <p:sp>
        <p:nvSpPr>
          <p:cNvPr id="56" name="Text 48"/>
          <p:cNvSpPr/>
          <p:nvPr/>
        </p:nvSpPr>
        <p:spPr>
          <a:xfrm>
            <a:off x="6866773" y="4160044"/>
            <a:ext cx="3802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1050" dirty="0"/>
          </a:p>
        </p:txBody>
      </p:sp>
      <p:sp>
        <p:nvSpPr>
          <p:cNvPr id="57" name="Text 49"/>
          <p:cNvSpPr/>
          <p:nvPr/>
        </p:nvSpPr>
        <p:spPr>
          <a:xfrm>
            <a:off x="8064112" y="4053483"/>
            <a:ext cx="24197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600" dirty="0"/>
          </a:p>
        </p:txBody>
      </p:sp>
      <p:sp>
        <p:nvSpPr>
          <p:cNvPr id="58" name="Text 50"/>
          <p:cNvSpPr/>
          <p:nvPr/>
        </p:nvSpPr>
        <p:spPr>
          <a:xfrm>
            <a:off x="8064112" y="4160044"/>
            <a:ext cx="2419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25x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a59bb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8476" y="521345"/>
            <a:ext cx="666750" cy="666750"/>
          </a:xfrm>
          <a:prstGeom prst="rect">
            <a:avLst/>
          </a:prstGeom>
          <a:effectLst>
            <a:outerShdw sx="100000" sy="100000" kx="0" ky="0" algn="bl" rotWithShape="0" blurRad="571500" dist="190500" dir="5400000">
              <a:srgbClr val="8b5cf6">
                <a:alpha val="4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425058" y="641300"/>
            <a:ext cx="29343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792243" y="1359545"/>
            <a:ext cx="35593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FUTURE OF BUILDING AUTOMATION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2792243" y="1589931"/>
            <a:ext cx="3559365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Build Together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2932063" y="2267992"/>
            <a:ext cx="3279577" cy="1399877"/>
          </a:xfrm>
          <a:prstGeom prst="roundRect">
            <a:avLst>
              <a:gd name="adj" fmla="val 12248"/>
            </a:avLst>
          </a:prstGeom>
          <a:solidFill>
            <a:srgbClr val="1A1A2E">
              <a:alpha val="80000"/>
            </a:srgbClr>
          </a:solidFill>
          <a:ln w="9525">
            <a:solidFill>
              <a:srgbClr val="2A2A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258741" y="2468017"/>
            <a:ext cx="262622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Oemer Hueseyin Coskun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58741" y="2746028"/>
            <a:ext cx="26262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und Founder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284488" y="3025973"/>
            <a:ext cx="2574727" cy="9525"/>
          </a:xfrm>
          <a:prstGeom prst="rect">
            <a:avLst/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271446" y="3168848"/>
            <a:ext cx="13302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271446" y="3307854"/>
            <a:ext cx="13302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info@west-money-bau.de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45330" y="3168848"/>
            <a:ext cx="10239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4845330" y="3307854"/>
            <a:ext cx="10239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west-money-bau.de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162041" y="3839319"/>
            <a:ext cx="28196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- LOXONE - Barrierefreies Bauen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88730" y="4197400"/>
            <a:ext cx="13662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- WhatsApp - Calendly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991956" y="4502200"/>
            <a:ext cx="115994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West Money Bau GmbH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West Money Bau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 Money OS - Investor Pitch Deck</dc:title>
  <dc:subject>Seed Round Investment Opportunity</dc:subject>
  <dc:creator>Ömer Hüseyin Coşkun</dc:creator>
  <cp:lastModifiedBy>Ömer Hüseyin Coşkun</cp:lastModifiedBy>
  <cp:revision>1</cp:revision>
  <dcterms:created xsi:type="dcterms:W3CDTF">2025-12-14T00:42:07Z</dcterms:created>
  <dcterms:modified xsi:type="dcterms:W3CDTF">2025-12-14T00:42:07Z</dcterms:modified>
</cp:coreProperties>
</file>